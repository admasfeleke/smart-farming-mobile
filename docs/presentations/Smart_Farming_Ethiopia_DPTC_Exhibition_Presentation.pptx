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quick_scan_518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502920"/>
            <a:ext cx="6309360" cy="5440680"/>
          </a:xfrm>
          <a:prstGeom prst="roundRect">
            <a:avLst/>
          </a:prstGeom>
          <a:solidFill>
            <a:srgbClr val="F7F8EA"/>
          </a:solidFill>
          <a:ln w="12700">
            <a:solidFill>
              <a:srgbClr val="F7F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m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777240"/>
            <a:ext cx="658368" cy="658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1600200"/>
            <a:ext cx="5577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2B14"/>
                </a:solidFill>
                <a:latin typeface="Aptos Display"/>
              </a:rPr>
              <a:t>Smart Farming Ethiopia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76272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97E19"/>
                </a:solidFill>
                <a:latin typeface="Aptos"/>
              </a:rPr>
              <a:t>AI-assisted, offline-first farm support for Ethiopian smallholder farmers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D2B14"/>
                </a:solidFill>
                <a:latin typeface="Aptos"/>
              </a:rPr>
              <a:t>? Prepared for Dalocha Polytechnic College exhibition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D2B14"/>
                </a:solidFill>
                <a:latin typeface="Aptos"/>
              </a:rPr>
              <a:t>? Audience: colleges, enterprises, regional Science &amp; Technology Bureau, regional TVET Bureau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D2B14"/>
                </a:solidFill>
                <a:latin typeface="Aptos"/>
              </a:rPr>
              <a:t>? Developed for career promotion from Assistant Instructor to Instructor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74920"/>
            <a:ext cx="132588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66359"/>
            <a:ext cx="1143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Mobile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5074920"/>
            <a:ext cx="160020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5166359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Laravel Backoffice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5074920"/>
            <a:ext cx="123444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59" y="5166359"/>
            <a:ext cx="10515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AI Inference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5074920"/>
            <a:ext cx="114300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5166359"/>
            <a:ext cx="9601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Offline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87568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D6752"/>
                </a:solidFill>
                <a:latin typeface="Aptos"/>
              </a:rPr>
              <a:t>Admasu Feleke Mulatu | Dalocha Polytechnic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What visitors should understand in 3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Simple message first, technical depth second.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832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847088"/>
            <a:ext cx="603504" cy="603504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965960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2B14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2B14"/>
                </a:solidFill>
                <a:latin typeface="Aptos Display"/>
              </a:rPr>
              <a:t>Farmers can use the app even when internet is unavailable.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94760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D6752"/>
                </a:solidFill>
                <a:latin typeface="Aptos"/>
              </a:rPr>
              <a:t>Offline-first design keeps farm records, scan history, soil guidance, and sync backlog locally.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600200"/>
            <a:ext cx="33832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0" y="1847088"/>
            <a:ext cx="603504" cy="603504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0328" y="1965960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2B14"/>
                </a:solidFill>
                <a:latin typeface="Aptos Displa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6974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2B14"/>
                </a:solidFill>
                <a:latin typeface="Aptos Display"/>
              </a:rPr>
              <a:t>AI supports decisions, but experts verify sensitive guidance.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794760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D6752"/>
                </a:solidFill>
                <a:latin typeface="Aptos"/>
              </a:rPr>
              <a:t>Disease reports include image evidence, crop context, confidence, and review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600200"/>
            <a:ext cx="33832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9640" y="1847088"/>
            <a:ext cx="603504" cy="603504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1965960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2B14"/>
                </a:solidFill>
                <a:latin typeface="Aptos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6974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2B14"/>
                </a:solidFill>
                <a:latin typeface="Aptos Display"/>
              </a:rPr>
              <a:t>The project is practical for training, extension, and technology transfer.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794760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D6752"/>
                </a:solidFill>
                <a:latin typeface="Aptos"/>
              </a:rPr>
              <a:t>It connects mobile farmers, backoffice reviewers, data collection, and future IoT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Problem addressed by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Designed around constraints farmers face in real field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8408" y="1828800"/>
            <a:ext cx="530352" cy="530352"/>
          </a:xfrm>
          <a:prstGeom prst="roundRect">
            <a:avLst/>
          </a:prstGeom>
          <a:solidFill>
            <a:srgbClr val="FEE9CB"/>
          </a:solidFill>
          <a:ln w="12700">
            <a:solidFill>
              <a:srgbClr val="FEE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1920240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E8B1F"/>
                </a:solidFill>
                <a:latin typeface="Aptos Display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73736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 Display"/>
              </a:rPr>
              <a:t>Delayed disease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221991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5D6752"/>
                </a:solidFill>
                <a:latin typeface="Aptos"/>
              </a:rPr>
              <a:t>Farmers may notice leaf symptoms late and wait for expert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64807" y="1828800"/>
            <a:ext cx="530352" cy="530352"/>
          </a:xfrm>
          <a:prstGeom prst="roundRect">
            <a:avLst/>
          </a:prstGeom>
          <a:solidFill>
            <a:srgbClr val="FEE9CB"/>
          </a:solidFill>
          <a:ln w="12700">
            <a:solidFill>
              <a:srgbClr val="FEE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1920240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E8B1F"/>
                </a:solidFill>
                <a:latin typeface="Aptos Display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73736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 Display"/>
              </a:rPr>
              <a:t>Weak offline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221991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5D6752"/>
                </a:solidFill>
                <a:latin typeface="Aptos"/>
              </a:rPr>
              <a:t>Internet and server availability are not guaranteed in rural usage.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7472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8408" y="3794759"/>
            <a:ext cx="530352" cy="530352"/>
          </a:xfrm>
          <a:prstGeom prst="roundRect">
            <a:avLst/>
          </a:prstGeom>
          <a:solidFill>
            <a:srgbClr val="FEE9CB"/>
          </a:solidFill>
          <a:ln w="12700">
            <a:solidFill>
              <a:srgbClr val="FEE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" y="3886200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E8B1F"/>
                </a:solidFill>
                <a:latin typeface="Aptos Display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70332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 Display"/>
              </a:rPr>
              <a:t>Language and literacy barriers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87952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5D6752"/>
                </a:solidFill>
                <a:latin typeface="Aptos"/>
              </a:rPr>
              <a:t>Text-heavy systems are hard for farmers unless localized and visual.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47472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64807" y="3794759"/>
            <a:ext cx="530352" cy="530352"/>
          </a:xfrm>
          <a:prstGeom prst="roundRect">
            <a:avLst/>
          </a:prstGeom>
          <a:solidFill>
            <a:srgbClr val="FEE9CB"/>
          </a:solidFill>
          <a:ln w="12700">
            <a:solidFill>
              <a:srgbClr val="FEE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3886200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E8B1F"/>
                </a:solidFill>
                <a:latin typeface="Aptos Display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70332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 Display"/>
              </a:rPr>
              <a:t>Fragmented farm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187952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5D6752"/>
                </a:solidFill>
                <a:latin typeface="Aptos"/>
              </a:rPr>
              <a:t>Farm, plot, planting, soil, weather, and disease records are often separated.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97E19"/>
                </a:solidFill>
                <a:latin typeface="Aptos"/>
              </a:rPr>
              <a:t>Design principle: show only what farmers need first; keep expert-grade evidence behind the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Objectives are grouped by farmer value, institutional value, and technical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5819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Farmer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572768"/>
            <a:ext cx="7818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D2B14"/>
                </a:solidFill>
                <a:latin typeface="Aptos"/>
              </a:rPr>
              <a:t>Record farms, plots, planting, soil health, weather context, disease scans, and local guidance in a simple mobile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60320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7249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Expert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715768"/>
            <a:ext cx="7818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D2B14"/>
                </a:solidFill>
                <a:latin typeface="Aptos"/>
              </a:rPr>
              <a:t>Give supporters and experts evidence-backed reports with image preview, crop context, assignment, review decision, and treatment guidance.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03320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867911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Institutional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858768"/>
            <a:ext cx="7818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D2B14"/>
                </a:solidFill>
                <a:latin typeface="Aptos"/>
              </a:rPr>
              <a:t>Demonstrate applied AI, mobile development, Laravel backoffice, offline sync, localization, and technology transfer readiness.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46320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0109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Technical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5001768"/>
            <a:ext cx="7818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D2B14"/>
                </a:solidFill>
                <a:latin typeface="Aptos"/>
              </a:rPr>
              <a:t>Provide a secure API, role-scoped backoffice, offline cache, synchronized records, and model-serving architecture for future improvement.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Exhibition audience: what each group should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same project has different value for each visitor group.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 Display"/>
              </a:rPr>
              <a:t>Farmers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A simpler way to receive crop, disease, soil, and weather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45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 Display"/>
              </a:rPr>
              <a:t>Colleges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305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A teaching project for software, AI, agriculture, and technology transfer.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45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 Display"/>
              </a:rPr>
              <a:t>Enterprises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305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Potential productization, support contracts, sensor integration, and farm advisory services.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747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 Display"/>
              </a:rPr>
              <a:t>Science &amp; Technology Bureau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879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Regional innovation, applied AI adoption, and evidence-based extension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4747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703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 Display"/>
              </a:rPr>
              <a:t>TVET Bureau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1879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Skill development, practical demonstration, and institutional promotion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System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Mobile farmer workflow plus Laravel backoffice plus optional AI inference service.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Farmer 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5D6752"/>
                </a:solidFill>
                <a:latin typeface="Aptos"/>
              </a:rPr>
              <a:t>Offline records, scan camera, crop selector, soil/weather/yield guidance, local languages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Laravel API &amp; 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4414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5D6752"/>
                </a:solidFill>
                <a:latin typeface="Aptos"/>
              </a:rPr>
              <a:t>Authentication, farmer-scoped data, disease/soil reports, media evidence, sync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74519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Backoffice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4414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5D6752"/>
                </a:solidFill>
                <a:latin typeface="Aptos"/>
              </a:rPr>
              <a:t>Admin assignment, supporter/expert verification, evidence preview, treatment approval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16052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7" y="432511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AI Inference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47274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5D6752"/>
                </a:solidFill>
                <a:latin typeface="Aptos"/>
              </a:rPr>
              <a:t>Online model serving for server-side disease scoring when the inference server is running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94760" y="2542032"/>
            <a:ext cx="548640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43800" y="2542032"/>
            <a:ext cx="548640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89320" y="3337560"/>
            <a:ext cx="0" cy="73152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1560" y="5870448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D2B14"/>
                </a:solidFill>
                <a:latin typeface="Aptos"/>
              </a:rPr>
              <a:t>Core rule: AI is decision support. Final chemical or treatment confirmation remains a reviewed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Recommended live demo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A 7-minute flow that works for both non-technical and technical visitors.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161848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70992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8541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Open app and show localized farmer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41732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0752" y="161848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1" y="170992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18541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Select farm, plot, crop, and optional field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41732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11112" y="161848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170992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18541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Capture leaf image and show offline provisional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41732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91472" y="161848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28632" y="170992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218541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Open disease history with image evidence and finding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42900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" y="363016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372160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 Display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19709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Sync report to Laravel backoffice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42900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730752" y="363016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67911" y="372160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 Display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19709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Reviewer opens assigned case and confirms/rejects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342900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11112" y="363016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8272" y="372160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 Display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19709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Show soil/weather/yield guidance and offline sync health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Farmer mobile app: visual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Large screenshots are included so non-technical visitors can understand without reading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80160"/>
            <a:ext cx="2138289" cy="4526279"/>
          </a:xfrm>
          <a:prstGeom prst="roundRect">
            <a:avLst/>
          </a:prstGeom>
          <a:solidFill>
            <a:srgbClr val="11160F"/>
          </a:solidFill>
          <a:ln w="12700">
            <a:solidFill>
              <a:srgbClr val="111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20260607-112434_16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2046849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566160" y="1280160"/>
            <a:ext cx="2138289" cy="4526279"/>
          </a:xfrm>
          <a:prstGeom prst="roundRect">
            <a:avLst/>
          </a:prstGeom>
          <a:solidFill>
            <a:srgbClr val="11160F"/>
          </a:solidFill>
          <a:ln w="12700">
            <a:solidFill>
              <a:srgbClr val="111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_20260607-112445_494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79" y="1325880"/>
            <a:ext cx="2046849" cy="4434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55080" y="1280160"/>
            <a:ext cx="2138289" cy="4526279"/>
          </a:xfrm>
          <a:prstGeom prst="roundRect">
            <a:avLst/>
          </a:prstGeom>
          <a:solidFill>
            <a:srgbClr val="11160F"/>
          </a:solidFill>
          <a:ln w="12700">
            <a:solidFill>
              <a:srgbClr val="111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_20260607-112518_7862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325880"/>
            <a:ext cx="2046849" cy="4434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143999" y="1280160"/>
            <a:ext cx="2138289" cy="4526279"/>
          </a:xfrm>
          <a:prstGeom prst="roundRect">
            <a:avLst/>
          </a:prstGeom>
          <a:solidFill>
            <a:srgbClr val="11160F"/>
          </a:solidFill>
          <a:ln w="12700">
            <a:solidFill>
              <a:srgbClr val="111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shot_20260607-133122_6549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19" y="1325880"/>
            <a:ext cx="2046849" cy="4434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592531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97E19"/>
                </a:solidFill>
                <a:latin typeface="Aptos"/>
              </a:rPr>
              <a:t>Farm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592531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97E19"/>
                </a:solidFill>
                <a:latin typeface="Aptos"/>
              </a:rPr>
              <a:t>Scan crop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92531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97E19"/>
                </a:solidFill>
                <a:latin typeface="Aptos"/>
              </a:rPr>
              <a:t>Disease prevention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592531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97E19"/>
                </a:solidFill>
                <a:latin typeface="Aptos"/>
              </a:rPr>
              <a:t>Guidance /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Disease scan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scan result is useful offline, then becomes stronger after sync and expert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057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0574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97E19"/>
                </a:solidFill>
                <a:latin typeface="Aptos Display"/>
              </a:rPr>
              <a:t>1. Choose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542032"/>
            <a:ext cx="170078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D6752"/>
                </a:solidFill>
                <a:latin typeface="Aptos"/>
              </a:rPr>
              <a:t>Farm, plot, crop, planting, and optional field condition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834640"/>
            <a:ext cx="246888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39" y="1828800"/>
            <a:ext cx="2057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0574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97E19"/>
                </a:solidFill>
                <a:latin typeface="Aptos Display"/>
              </a:rPr>
              <a:t>2. Capture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542032"/>
            <a:ext cx="170078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D6752"/>
                </a:solidFill>
                <a:latin typeface="Aptos"/>
              </a:rPr>
              <a:t>Camera quality checks and local image preview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2040" y="2834640"/>
            <a:ext cx="246887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59" y="1828800"/>
            <a:ext cx="2057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1" y="20574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97E19"/>
                </a:solidFill>
                <a:latin typeface="Aptos Display"/>
              </a:rPr>
              <a:t>3. Offline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542032"/>
            <a:ext cx="170078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D6752"/>
                </a:solidFill>
                <a:latin typeface="Aptos"/>
              </a:rPr>
              <a:t>Immediate provisional finding stored in local history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23759" y="2834640"/>
            <a:ext cx="246889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98079" y="1828800"/>
            <a:ext cx="2057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1" y="20574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97E19"/>
                </a:solidFill>
                <a:latin typeface="Aptos Display"/>
              </a:rPr>
              <a:t>4. Upload when online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1" y="2542032"/>
            <a:ext cx="170078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D6752"/>
                </a:solidFill>
                <a:latin typeface="Aptos"/>
              </a:rPr>
              <a:t>Image evidence and context reach Laravel API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55480" y="2834640"/>
            <a:ext cx="246887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29800" y="1828800"/>
            <a:ext cx="2057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4392" y="20574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97E19"/>
                </a:solidFill>
                <a:latin typeface="Aptos Display"/>
              </a:rPr>
              <a:t>5. Server AI /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4392" y="2542032"/>
            <a:ext cx="170078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D6752"/>
                </a:solidFill>
                <a:latin typeface="Aptos"/>
              </a:rPr>
              <a:t>Online inference and reviewer decision improve confidence</a:t>
            </a:r>
          </a:p>
        </p:txBody>
      </p:sp>
      <p:pic>
        <p:nvPicPr>
          <p:cNvPr id="26" name="Picture 25" descr="tomato_632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0"/>
            <a:ext cx="2468880" cy="11430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85800" y="4572000"/>
            <a:ext cx="2468880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otato_2499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4572000"/>
            <a:ext cx="2468880" cy="11430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611880" y="4572000"/>
            <a:ext cx="2468880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aize_2912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572000"/>
            <a:ext cx="2468880" cy="11430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537960" y="4572000"/>
            <a:ext cx="2468880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epper_7348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4572000"/>
            <a:ext cx="2011680" cy="11430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9464040" y="4572000"/>
            <a:ext cx="2011680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001768"/>
            <a:ext cx="1371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Tomato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001768"/>
            <a:ext cx="1371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Potato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5001768"/>
            <a:ext cx="1371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Maize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0928" y="5001768"/>
            <a:ext cx="1371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Pepper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Supported crop disease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Current focus is crop disease support. Pest detection is prepared but waits for the IP102 model package.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48920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97E19"/>
                </a:solidFill>
                <a:latin typeface="Aptos Display"/>
              </a:rPr>
              <a:t>Tomato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6459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1D2B14"/>
                </a:solidFill>
                <a:latin typeface="Aptos"/>
              </a:rPr>
              <a:t>early blight, late blight, leaf mold, septoria, spider mite, target spot, mosaic virus, yellow leaf curl, bacterial spot, healthy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48920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184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97E19"/>
                </a:solidFill>
                <a:latin typeface="Aptos Display"/>
              </a:rPr>
              <a:t>Potato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6459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1D2B14"/>
                </a:solidFill>
                <a:latin typeface="Aptos"/>
              </a:rPr>
              <a:t>early blight, late blight, healthy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83280"/>
            <a:ext cx="48920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844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97E19"/>
                </a:solidFill>
                <a:latin typeface="Aptos Display"/>
              </a:rPr>
              <a:t>Maize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61188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1D2B14"/>
                </a:solidFill>
                <a:latin typeface="Aptos"/>
              </a:rPr>
              <a:t>common rust, gray leaf spot, northern leaf blight, 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383280"/>
            <a:ext cx="48920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5844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97E19"/>
                </a:solidFill>
                <a:latin typeface="Aptos Display"/>
              </a:rPr>
              <a:t>Pepper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61188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1D2B14"/>
                </a:solidFill>
                <a:latin typeface="Aptos"/>
              </a:rPr>
              <a:t>bacterial spot, healthy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486400"/>
            <a:ext cx="10378440" cy="530352"/>
          </a:xfrm>
          <a:prstGeom prst="roundRect">
            <a:avLst/>
          </a:prstGeom>
          <a:solidFill>
            <a:srgbClr val="FFF4DD"/>
          </a:solidFill>
          <a:ln w="12700">
            <a:solidFill>
              <a:srgbClr val="F4D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641848"/>
            <a:ext cx="10058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D2B14"/>
                </a:solidFill>
                <a:latin typeface="Aptos"/>
              </a:rPr>
              <a:t>Important: healthy leaves must be reported as healthy when confidence supports it, not forced into disease.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Backoffice verification and 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Reports are not just rows. They are evidence-backed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3619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105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97E19"/>
                </a:solidFill>
                <a:latin typeface="Aptos Display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011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5D6752"/>
                </a:solidFill>
                <a:latin typeface="Aptos"/>
              </a:rPr>
              <a:t>Configures users, roles, regional scope, crops, and assignment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370832"/>
            <a:ext cx="150876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46227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Region scoped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53619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18105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97E19"/>
                </a:solidFill>
                <a:latin typeface="Aptos Display"/>
              </a:rPr>
              <a:t>Supporter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423160"/>
            <a:ext cx="2011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5D6752"/>
                </a:solidFill>
                <a:latin typeface="Aptos"/>
              </a:rPr>
              <a:t>Reviews assigned local cases, gives first-line advisory support, escalates uncertain cases.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50208" y="4370832"/>
            <a:ext cx="150876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41648" y="446227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Region scoped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153619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18105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97E19"/>
                </a:solidFill>
                <a:latin typeface="Aptos Display"/>
              </a:rPr>
              <a:t>Expert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423160"/>
            <a:ext cx="2011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5D6752"/>
                </a:solidFill>
                <a:latin typeface="Aptos"/>
              </a:rPr>
              <a:t>Confirms/rejects disease findings, approves treatment and pesticide guidance.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03136" y="4370832"/>
            <a:ext cx="150876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94576" y="446227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Region scoped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144" y="153619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18105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97E19"/>
                </a:solidFill>
                <a:latin typeface="Aptos Display"/>
              </a:rPr>
              <a:t>Super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2423160"/>
            <a:ext cx="2011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5D6752"/>
                </a:solidFill>
                <a:latin typeface="Aptos"/>
              </a:rPr>
              <a:t>Oversees all regions, can audit and intervene when regional assignment fails.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56064" y="4370832"/>
            <a:ext cx="150876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47504" y="446227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Region scoped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1500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1D2B14"/>
                </a:solidFill>
                <a:latin typeface="Aptos"/>
              </a:rPr>
              <a:t>Assignment logic: prefer active reviewer in farmer/report region; fall back to admin visibility when no reviewer exists.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Offline-first synchronization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app is designed for rural connectivity, not perfect connectivity.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9834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051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497E19"/>
                </a:solidFill>
                <a:latin typeface="Aptos Display"/>
              </a:rPr>
              <a:t>When offline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343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? Local account can continue after first successful login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? Farm, plot, planting, disease scan, and soil data are cached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? Sync backlog tracks pending and failed uploads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? Farmer sees honest connection state, not fake online messages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508760"/>
            <a:ext cx="49834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81051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497E19"/>
                </a:solidFill>
                <a:latin typeface="Aptos Display"/>
              </a:rPr>
              <a:t>When online again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423160"/>
            <a:ext cx="4343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? When API returns, app pulls server records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? Offline provisional disease findings remain visible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? Server result updates without erasing useful local finding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? Image evidence is preserved for 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3520440"/>
            <a:ext cx="548640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Beyond disease scan: smart farm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app supports broader farm decision-making, not only camera detection.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pic>
        <p:nvPicPr>
          <p:cNvPr id="7" name="Picture 6" descr="field_soil_45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4846320" cy="1508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1417320"/>
            <a:ext cx="4846320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459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Soil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12264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FFFFF"/>
                </a:solidFill>
                <a:latin typeface="Aptos"/>
              </a:rPr>
              <a:t>pH, texture, nutrients, organic matter, moisture, salinity, crop-specific natural and modern treatment guidance</a:t>
            </a:r>
          </a:p>
        </p:txBody>
      </p:sp>
      <p:pic>
        <p:nvPicPr>
          <p:cNvPr id="11" name="Picture 10" descr="field_weather_8875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4846320" cy="15087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72200" y="1417320"/>
            <a:ext cx="4846320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6459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Weather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112264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FFFFF"/>
                </a:solidFill>
                <a:latin typeface="Aptos"/>
              </a:rPr>
              <a:t>location-based weather, risk flags, disease prevention context, future IoT weather station integration</a:t>
            </a:r>
          </a:p>
        </p:txBody>
      </p:sp>
      <p:pic>
        <p:nvPicPr>
          <p:cNvPr id="15" name="Picture 14" descr="quick_farm_8923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29000"/>
            <a:ext cx="4846320" cy="15087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85800" y="3429000"/>
            <a:ext cx="4846320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65760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Yield outlook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123944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FFFFF"/>
                </a:solidFill>
                <a:latin typeface="Aptos"/>
              </a:rPr>
              <a:t>planting context, plot size, crop stage, weather/soil indicators, and expected yield support</a:t>
            </a:r>
          </a:p>
        </p:txBody>
      </p:sp>
      <p:pic>
        <p:nvPicPr>
          <p:cNvPr id="19" name="Picture 18" descr="field_prevention_2576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429000"/>
            <a:ext cx="4846320" cy="1508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172200" y="3429000"/>
            <a:ext cx="4846320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65760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Disease prevention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123944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FFFFF"/>
                </a:solidFill>
                <a:latin typeface="Aptos"/>
              </a:rPr>
              <a:t>risk-aware preventive guidance based on crop, weather, farm context, and previous 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Localization and farmer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app targets farmers with different literacy levels and local language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72768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97E19"/>
                </a:solidFill>
                <a:latin typeface="Aptos Display"/>
              </a:rPr>
              <a:t>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31720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0">
                <a:solidFill>
                  <a:srgbClr val="5D6752"/>
                </a:solidFill>
                <a:latin typeface="Aptos"/>
              </a:rPr>
              <a:t>Developer, demo, and technical reference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572768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874519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97E19"/>
                </a:solidFill>
                <a:latin typeface="Aptos Display"/>
              </a:rPr>
              <a:t>Amharic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331720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0">
                <a:solidFill>
                  <a:srgbClr val="5D6752"/>
                </a:solidFill>
                <a:latin typeface="Aptos"/>
              </a:rPr>
              <a:t>Primary local translation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572768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874519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97E19"/>
                </a:solidFill>
                <a:latin typeface="Aptos Display"/>
              </a:rPr>
              <a:t>Afaan Oromo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7" y="2331720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0">
                <a:solidFill>
                  <a:srgbClr val="5D6752"/>
                </a:solidFill>
                <a:latin typeface="Aptos"/>
              </a:rPr>
              <a:t>Farmer-facing regional language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3999" y="1572768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79" y="1874519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97E19"/>
                </a:solidFill>
                <a:latin typeface="Aptos Display"/>
              </a:rPr>
              <a:t>Tigrinya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7" y="2331720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0">
                <a:solidFill>
                  <a:srgbClr val="5D6752"/>
                </a:solidFill>
                <a:latin typeface="Aptos"/>
              </a:rPr>
              <a:t>Additional local language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206240"/>
            <a:ext cx="10058400" cy="1143000"/>
          </a:xfrm>
          <a:prstGeom prst="roundRect">
            <a:avLst/>
          </a:prstGeom>
          <a:solidFill>
            <a:srgbClr val="EDF8DD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4988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D2B14"/>
                </a:solidFill>
                <a:latin typeface="Aptos Display"/>
              </a:rPr>
              <a:t>Usability rule for farmers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443984"/>
            <a:ext cx="6629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>
                <a:solidFill>
                  <a:srgbClr val="1D2B14"/>
                </a:solidFill>
                <a:latin typeface="Aptos"/>
              </a:rPr>
              <a:t>Large cards, clear crop images, simple warnings, fewer technical codes, and consistent translation of titles, forms, popups, and recommendations.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Security, privacy, and data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Production readiness means role-aware access, not only working screens.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61848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Farmer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02082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Mobile users see their own farms, plots, records, reports, and sync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61848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Backoffice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02082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Reviewers see assigned or regional reports based on role and region.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61848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Evidence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202082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Report images are served through protected API paths, not public storage links.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2900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363016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API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3250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Token authentication, throttling, validation, and consistent error handling protect endpoints.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42900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4296" y="363016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403250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Review status, reviewer decision, image evidence, and timestamps support accountability.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42900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6" y="363016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Offline risk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403250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Offline records are marked provisional until sync and review improve confidence.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Production readiness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Clear bars replace small unreadable graphs. Ratings are internal implementation readiness, not scientific model certification.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72184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Mobile farmer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417320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86200" y="1417320"/>
            <a:ext cx="5149900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0" y="1399032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30552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Laravel API &amp; 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2075688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86200" y="2075688"/>
            <a:ext cx="5032857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0" y="2057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86%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788920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Offline sync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2734056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86200" y="2734056"/>
            <a:ext cx="4681728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715768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47288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Backoffice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3392424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86200" y="3392424"/>
            <a:ext cx="4798771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3374136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82%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05655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Disease AI reliability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4050791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86200" y="4050791"/>
            <a:ext cx="4213555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4032504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72%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64023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Localization completeness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4709159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86200" y="4709159"/>
            <a:ext cx="4564684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4690872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78%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422392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Deployment readiness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86200" y="5367528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86200" y="5367528"/>
            <a:ext cx="4096512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534924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144768"/>
            <a:ext cx="10424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D6752"/>
                </a:solidFill>
                <a:latin typeface="Aptos"/>
              </a:rPr>
              <a:t>Next improvement priorities: measured model evaluation, production hosting, sensor ingestion, and continuous reviewer feedback loop.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Technical implementation for professional reviewers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A concise architecture summary for software and ICT professionals.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 Display"/>
              </a:rPr>
              <a:t>Flutter 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472184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Offline-first farmer app, image capture, local history, localization, API client, sync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472184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 Display"/>
              </a:rPr>
              <a:t>Laravel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472184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REST API, Sanctum auth, MySQL, Filament backoffice, role/region scope, media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07208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953512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 Display"/>
              </a:rPr>
              <a:t>AI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53512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Mobile TFLite offline inference and optional FastAPI online inference 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07208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953512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 Display"/>
              </a:rPr>
              <a:t>Data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953512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Users, roles, farms, plots, plantings, crops, soil records, disease reports, evidence media.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88536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434840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 Display"/>
              </a:rP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43484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Auth tokens, validation, throttling, protected media, scoped report visibility.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288536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434840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 Display"/>
              </a:rPr>
              <a:t>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43484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Local demo stack now; can split mobile, backend, inference, and database for production.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Known limitations and risk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This slide builds trust by showing what is working and what still needs controlled improvement.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81912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EE8B1F"/>
                </a:solidFill>
                <a:latin typeface="Aptos Display"/>
              </a:rPr>
              <a:t>AI model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536192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Needs broader field image validation beyond training dataset examples.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536192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497E19"/>
                </a:solidFill>
                <a:latin typeface="Aptos"/>
              </a:rPr>
              <a:t>Use expert confirmation and collect feedback images.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32888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9748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EE8B1F"/>
                </a:solidFill>
                <a:latin typeface="Aptos Display"/>
              </a:rPr>
              <a:t>Internet dependency for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651760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Offline works, but verification needs API availability.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651760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497E19"/>
                </a:solidFill>
                <a:latin typeface="Aptos"/>
              </a:rPr>
              <a:t>Keep provisional local result visible and sync later.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48456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13048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EE8B1F"/>
                </a:solidFill>
                <a:latin typeface="Aptos Display"/>
              </a:rPr>
              <a:t>Chemical treatment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767328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Wrong pesticide advice can cause harm.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767328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497E19"/>
                </a:solidFill>
                <a:latin typeface="Aptos"/>
              </a:rPr>
              <a:t>Expert approval before final chemical guidance.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64024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928616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EE8B1F"/>
                </a:solidFill>
                <a:latin typeface="Aptos Display"/>
              </a:rPr>
              <a:t>Localization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882896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Direct translation may not capture local disease names.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882896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497E19"/>
                </a:solidFill>
                <a:latin typeface="Aptos"/>
              </a:rPr>
              <a:t>Schema-backed registry and local expert review.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Value for Dalocha Polytechnic College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project is positioned as a practical technology transfer and career promotion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49834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97E19"/>
                </a:solidFill>
                <a:latin typeface="Aptos Display"/>
              </a:rPr>
              <a:t>Career promotion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21991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Demonstrates practical software engineering, AI integration, and deployment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49834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97E19"/>
                </a:solidFill>
                <a:latin typeface="Aptos Display"/>
              </a:rPr>
              <a:t>Technology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21991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Approved by the Technology Transfer Core and suitable for exhibition demonstration.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74720"/>
            <a:ext cx="49834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0332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97E19"/>
                </a:solidFill>
                <a:latin typeface="Aptos Display"/>
              </a:rPr>
              <a:t>Student learning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87952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Can be used as a teaching case for mobile apps, Laravel APIs, database design, AI, and UI/UX.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49834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70332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97E19"/>
                </a:solidFill>
                <a:latin typeface="Aptos Display"/>
              </a:rPr>
              <a:t>Regional impact pathway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187952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Can support agricultural extension, local innovation, and data-driven farm advisory services.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What support is requested from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exhibition should produce feedback, partnership, and next-step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Dalocha Polytechnic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4688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74519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97E19"/>
                </a:solidFill>
                <a:latin typeface="Aptos Display"/>
              </a:rPr>
              <a:t>From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06040"/>
            <a:ext cx="2029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1D2B14"/>
                </a:solidFill>
                <a:latin typeface="Aptos"/>
              </a:rPr>
              <a:t>Academic feedback, student collaboration, pilot farms, and training integration.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00200"/>
            <a:ext cx="24688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1874519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97E19"/>
                </a:solidFill>
                <a:latin typeface="Aptos Display"/>
              </a:rPr>
              <a:t>From enterprises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606040"/>
            <a:ext cx="2029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1D2B14"/>
                </a:solidFill>
                <a:latin typeface="Aptos"/>
              </a:rPr>
              <a:t>Hosting, devices, IoT sensors, farm advisory partnership, and commercialization advice.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00200"/>
            <a:ext cx="24688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874519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97E19"/>
                </a:solidFill>
                <a:latin typeface="Aptos Display"/>
              </a:rPr>
              <a:t>From Science &amp; Technology Bureau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606040"/>
            <a:ext cx="2029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1D2B14"/>
                </a:solidFill>
                <a:latin typeface="Aptos"/>
              </a:rPr>
              <a:t>Innovation recognition, pilot coordination, research support, and regional rollout guidance.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600200"/>
            <a:ext cx="24688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0888" y="1874519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97E19"/>
                </a:solidFill>
                <a:latin typeface="Aptos Display"/>
              </a:rPr>
              <a:t>From TVET Bureau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2606040"/>
            <a:ext cx="2029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1D2B14"/>
                </a:solidFill>
                <a:latin typeface="Aptos"/>
              </a:rPr>
              <a:t>Institutional support, curriculum alignment, exhibition endorsement, and scale-up pathway.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D2B14"/>
                </a:solidFill>
                <a:latin typeface="Aptos"/>
              </a:rPr>
              <a:t>Immediate next step: live pilot with selected farms and assigned reviewers, then collect measured feedback.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quick_guidelines_908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914400"/>
            <a:ext cx="5897880" cy="4892040"/>
          </a:xfrm>
          <a:prstGeom prst="roundRect">
            <a:avLst/>
          </a:prstGeom>
          <a:solidFill>
            <a:srgbClr val="F8FAEC"/>
          </a:solidFill>
          <a:ln w="12700">
            <a:solidFill>
              <a:srgbClr val="F8F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m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23444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4440" y="214884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D2B14"/>
                </a:solidFill>
                <a:latin typeface="Aptos Display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7889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97E19"/>
                </a:solidFill>
                <a:latin typeface="Aptos Display"/>
              </a:rPr>
              <a:t>Smart Farming Ethiopia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5204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D2B14"/>
                </a:solidFill>
                <a:latin typeface="Aptos"/>
              </a:rPr>
              <a:t>Developed by: Admasu Feleke Mulatu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D2B14"/>
                </a:solidFill>
                <a:latin typeface="Aptos"/>
              </a:rPr>
              <a:t>Institution: Dalocha Polytechnic College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D2B14"/>
                </a:solidFill>
                <a:latin typeface="Aptos"/>
              </a:rPr>
              <a:t>Email: admasu.feleke21@gmail.com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D2B14"/>
                </a:solidFill>
                <a:latin typeface="Aptos"/>
              </a:rPr>
              <a:t>Phone: 0900824328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16636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5D6752"/>
                </a:solidFill>
                <a:latin typeface="Aptos"/>
              </a:rPr>
              <a:t>Discussion focus: pilot deployment, expert validation, sensor integration, and institutional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