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2331720" cy="2331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65117" y="1413890"/>
            <a:ext cx="694944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Smart Farming Ethiopia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5117" y="2169414"/>
            <a:ext cx="658368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0">
                <a:solidFill>
                  <a:srgbClr val="DCECDD"/>
                </a:solidFill>
                <a:latin typeface="Aptos"/>
              </a:defRPr>
            </a:pPr>
            <a:r>
              <a:rPr dirty="0"/>
              <a:t>Offline-first mobile and Laravel </a:t>
            </a:r>
            <a:r>
              <a:rPr dirty="0" err="1"/>
              <a:t>backoffice</a:t>
            </a:r>
            <a:r>
              <a:rPr dirty="0"/>
              <a:t> system for crop disease detection, farm records, soil guidance, weather monitoring, and farmer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5696" y="3063240"/>
            <a:ext cx="3200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E6B042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5696" y="3566160"/>
            <a:ext cx="67665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Prepared by: Admasu Feleke Mulatu</a:t>
            </a:r>
            <a:br/>
            <a:r>
              <a:t>Purpose: Career promotion from Assistant Instructor to Instructor</a:t>
            </a:r>
            <a:br/>
            <a:r>
              <a:t>Approved by: Technology Transfer Core, Dalocha Polytechnic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696" y="617220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DCECDD"/>
                </a:solidFill>
                <a:latin typeface="Aptos"/>
              </a:defRPr>
            </a:pPr>
            <a:r>
              <a:t>May 2026</a:t>
            </a:r>
          </a:p>
        </p:txBody>
      </p:sp>
      <p:pic>
        <p:nvPicPr>
          <p:cNvPr id="9" name="Picture 8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3703320"/>
            <a:ext cx="233172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81160" y="2148840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CECDD"/>
                </a:solidFill>
                <a:latin typeface="Aptos"/>
              </a:defRPr>
            </a:pPr>
            <a:r>
              <a:t>Dalocha Polytechnic College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00200"/>
            <a:ext cx="566928" cy="56692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53035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527048"/>
            <a:ext cx="2606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Background, problem statement, objectives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1600200"/>
            <a:ext cx="566928" cy="56692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37360"/>
            <a:ext cx="53035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1527048"/>
            <a:ext cx="2606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System scope, users, and core workflows</a:t>
            </a:r>
          </a:p>
        </p:txBody>
      </p:sp>
      <p:sp>
        <p:nvSpPr>
          <p:cNvPr id="14" name="Oval 13"/>
          <p:cNvSpPr/>
          <p:nvPr/>
        </p:nvSpPr>
        <p:spPr>
          <a:xfrm>
            <a:off x="8275319" y="1600200"/>
            <a:ext cx="566928" cy="56692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7" y="1737360"/>
            <a:ext cx="53035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28" y="1527048"/>
            <a:ext cx="2606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Architecture, data model, and synchronization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429000"/>
            <a:ext cx="566928" cy="56692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566160"/>
            <a:ext cx="53035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18488" y="3355848"/>
            <a:ext cx="2606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Disease detection, evidence review, and guidance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3429000"/>
            <a:ext cx="566928" cy="56692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0288" y="3566160"/>
            <a:ext cx="53035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21808" y="3355848"/>
            <a:ext cx="2606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Soil, weather, prevention, yield, readiness, and future work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9692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5C6760"/>
                </a:solidFill>
                <a:latin typeface="Aptos"/>
              </a:defRPr>
            </a:pPr>
            <a:r>
              <a:t>Why a farmer-centered digital agriculture system is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5532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B26"/>
                </a:solidFill>
                <a:latin typeface="Aptos"/>
              </a:defRPr>
            </a:pPr>
            <a:r>
              <a:t>- Smallholder farmers often rely on delayed field visits or informal advice for disease and soil decisions.</a:t>
            </a:r>
          </a:p>
          <a:p>
            <a:pPr>
              <a:spcAft>
                <a:spcPts val="600"/>
              </a:spcAft>
              <a:defRPr sz="1600">
                <a:solidFill>
                  <a:srgbClr val="232B26"/>
                </a:solidFill>
                <a:latin typeface="Aptos"/>
              </a:defRPr>
            </a:pPr>
            <a:r>
              <a:t>- Internet access, device quality, and language barriers make cloud-only systems unreliable in rural conditions.</a:t>
            </a:r>
          </a:p>
          <a:p>
            <a:pPr>
              <a:spcAft>
                <a:spcPts val="600"/>
              </a:spcAft>
              <a:defRPr sz="1600">
                <a:solidFill>
                  <a:srgbClr val="232B26"/>
                </a:solidFill>
                <a:latin typeface="Aptos"/>
              </a:defRPr>
            </a:pPr>
            <a:r>
              <a:t>- A practical solution must keep core farmer workflows available offline and synchronize when connectivity returns.</a:t>
            </a:r>
          </a:p>
          <a:p>
            <a:pPr>
              <a:spcAft>
                <a:spcPts val="600"/>
              </a:spcAft>
              <a:defRPr sz="1600">
                <a:solidFill>
                  <a:srgbClr val="232B26"/>
                </a:solidFill>
                <a:latin typeface="Aptos"/>
              </a:defRPr>
            </a:pPr>
            <a:r>
              <a:t>- Evidence-based review helps avoid blind pesticide use and improves confidence in disease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645920"/>
            <a:ext cx="4206240" cy="160020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Project Direction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Combine offline mobile intelligence with professional Laravel backoffice verification so farmers can act quickly while experts keep final guidance accountable.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520440"/>
            <a:ext cx="4206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Target Setting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Designed for Ethiopian farming context, with local-language support and simplified screens for low-literacy users.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4800600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Disease Response Delay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Leaf problems are reported late or without image evidence, increasing crop loss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Unstable Connectivity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Farmers cannot depend on continuous internet access for diagnosis, records, and login.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83279"/>
            <a:ext cx="4800600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Complex Interfaces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Dense forms and technical wording reduce usability for farmers with literacy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383279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Fragmented Records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Farm, soil, weather, disease history, and guidance are often separated or paper-based.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6492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Provide a farmer-only Flutter mobile app with offline login and offline-capable workflows.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Detect crop diseases from leaf images using crop-specific offline inference and submit evidence for review.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Maintain synchronized farm, plot, planting, soil, disease, weather, prevention, yield, and alert records.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Enable backoffice experts/supporters to review disease evidence and confirm or reject reports.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Support English, Amharic, Afaan Oromo, and Tigrinya for practical local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246120" cy="205740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Expected Outcome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A production-oriented prototype that remains useful when offline, then syncs to a controlled server workflow when the API is reachable.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Users and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3429000" cy="192024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Farmer Mobile User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Registers or logs in, manages own farm data, scans leaves, views guidance, records soil observations, checks weather/prevention, and receives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Expert / Supporter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Uses Laravel/Filament backoffice to review disease image evidence, confirm diagnosis, and support guidance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017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Admin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Manages users, roles, crop/configuration records, and system monitoring through the web backoffice.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26"/>
                </a:solidFill>
                <a:latin typeface="Aptos"/>
              </a:defRPr>
            </a:pPr>
            <a:r>
              <a:t>- Flutter side is intentionally scoped to farmers only.</a:t>
            </a:r>
          </a:p>
          <a:p>
            <a:pPr>
              <a:spcAft>
                <a:spcPts val="600"/>
              </a:spcAft>
              <a:defRPr sz="1500">
                <a:solidFill>
                  <a:srgbClr val="232B26"/>
                </a:solidFill>
                <a:latin typeface="Aptos"/>
              </a:defRPr>
            </a:pPr>
            <a:r>
              <a:t>- Backoffice users are separated from the mobile farmer workflow.</a:t>
            </a:r>
          </a:p>
          <a:p>
            <a:pPr>
              <a:spcAft>
                <a:spcPts val="600"/>
              </a:spcAft>
              <a:defRPr sz="1500">
                <a:solidFill>
                  <a:srgbClr val="232B26"/>
                </a:solidFill>
                <a:latin typeface="Aptos"/>
              </a:defRPr>
            </a:pPr>
            <a:r>
              <a:t>- Offline-first behavior is a core requirement, not an optional enhancement.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High-Level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828800" cy="822960"/>
          </a:xfrm>
          <a:prstGeom prst="roundRect">
            <a:avLst/>
          </a:prstGeom>
          <a:solidFill>
            <a:srgbClr val="E6F1E5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32B26"/>
                </a:solidFill>
                <a:latin typeface="Aptos"/>
              </a:defRPr>
            </a:pPr>
            <a:r>
              <a:t>Farmer</a:t>
            </a:r>
            <a:br/>
            <a:r>
              <a:t>Flutter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32B26"/>
                </a:solidFill>
                <a:latin typeface="Aptos"/>
              </a:defRPr>
            </a:pPr>
            <a:r>
              <a:t>Local Cache</a:t>
            </a:r>
            <a:br/>
            <a:r>
              <a:t>Offline Queue</a:t>
            </a:r>
            <a:br/>
            <a:r>
              <a:t>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240280"/>
            <a:ext cx="2011680" cy="960120"/>
          </a:xfrm>
          <a:prstGeom prst="roundRect">
            <a:avLst/>
          </a:prstGeom>
          <a:solidFill>
            <a:srgbClr val="E6F1E5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32B26"/>
                </a:solidFill>
                <a:latin typeface="Aptos"/>
              </a:defRPr>
            </a:pPr>
            <a:r>
              <a:t>Laravel API</a:t>
            </a:r>
            <a:br/>
            <a:r>
              <a:t>Sanctum Auth</a:t>
            </a:r>
            <a:br/>
            <a:r>
              <a:t>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6002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32B26"/>
                </a:solidFill>
                <a:latin typeface="Aptos"/>
              </a:defRPr>
            </a:pPr>
            <a:r>
              <a:t>MySQL</a:t>
            </a:r>
            <a:br/>
            <a:r>
              <a:t>Application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971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32B26"/>
                </a:solidFill>
                <a:latin typeface="Aptos"/>
              </a:defRPr>
            </a:pPr>
            <a:r>
              <a:t>File Storage</a:t>
            </a:r>
            <a:br/>
            <a:r>
              <a:t>Disease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2240280"/>
            <a:ext cx="1645920" cy="960120"/>
          </a:xfrm>
          <a:prstGeom prst="roundRect">
            <a:avLst/>
          </a:prstGeom>
          <a:solidFill>
            <a:srgbClr val="E6F1E5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32B26"/>
                </a:solidFill>
                <a:latin typeface="Aptos"/>
              </a:defRPr>
            </a:pPr>
            <a:r>
              <a:t>Filament</a:t>
            </a:r>
            <a:br/>
            <a:r>
              <a:t>Backoffice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41605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32B26"/>
                </a:solidFill>
                <a:latin typeface="Aptos"/>
              </a:defRPr>
            </a:pPr>
            <a:r>
              <a:t>Crop-Specific</a:t>
            </a:r>
            <a:br/>
            <a:r>
              <a:t>TFLite Models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240280"/>
            <a:ext cx="1188720" cy="45720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651760" y="2971800"/>
            <a:ext cx="1188720" cy="73152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920240" y="4160520"/>
            <a:ext cx="292608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852160" y="2011680"/>
            <a:ext cx="1051560" cy="50292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52160" y="2788920"/>
            <a:ext cx="1051560" cy="59436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69680" y="2011680"/>
            <a:ext cx="868680" cy="59436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869680" y="2788920"/>
            <a:ext cx="868680" cy="59436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5212080"/>
            <a:ext cx="102412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12402B"/>
                </a:solidFill>
                <a:latin typeface="Aptos"/>
              </a:defRPr>
            </a:pPr>
            <a:r>
              <a:t>Offline decisions happen immediately on device; server sync adds verification, persistence, and backoffice accountability.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Flutter Mobile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42032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Authentication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Farmer login, offline unlock, self-registration, logout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417320"/>
            <a:ext cx="254203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Farm Operations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Farm, plot, planting CRUD with offline 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4" y="1417320"/>
            <a:ext cx="2542032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Disease Scan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Camera/gallery, crop chooser, offline inference, evidence 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34856" y="1417320"/>
            <a:ext cx="254203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Disease History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Offline and synced results, filters, image preview, guidance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83280"/>
            <a:ext cx="2542032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Soil Health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Advanced guidance from pH, moisture, organic matter, NPK, soil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3383280"/>
            <a:ext cx="254203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Weather &amp; Prevention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Weather records, disease risk prevention,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3383280"/>
            <a:ext cx="2542032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Yield Prediction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Advance productivity support from farm/crop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4856" y="3383280"/>
            <a:ext cx="254203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Localization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English, Amharic, Afaan Oromo, Tigrinya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Scan to Disease History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063240" cy="123444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1. Select Crop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Tomato, potato, pepper, or maize context is selected before inference.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029968"/>
            <a:ext cx="36576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6279" y="141732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2. Capture Evidence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Leaf image is captured or selected and stored locally for immediate preview.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19" y="2029968"/>
            <a:ext cx="36576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75319" y="1417320"/>
            <a:ext cx="3063240" cy="123444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3. Offline Inference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Crop-specific EfficientNet/TFLite model generates likely disease or healthy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4. Save History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The provisional result is saved on device even if the API is unavailable.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3995928"/>
            <a:ext cx="36576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26279" y="3383280"/>
            <a:ext cx="3063240" cy="123444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5. Sync for Review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Image evidence and result are submitted to Laravel when online.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19" y="3995928"/>
            <a:ext cx="36576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19" y="33832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6. Expert Decision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Backoffice confirms, rejects, or refines the diagnosis and treatment guidance.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23560"/>
            <a:ext cx="10149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BC532D"/>
                </a:solidFill>
                <a:latin typeface="Aptos"/>
              </a:defRPr>
            </a:pPr>
            <a:r>
              <a:t>Design rule: server failure must not overwrite a useful offline diagnosis with 'awaiting analysis'.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Offline-First Synchronization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3246120" cy="182880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Offline Mode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Previously authenticated or self-registered farmers can continue key work without server access. Local records and images remain visible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Sync Queue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Creates and updates are queued with status, retried when API becomes reachable, and reconciled into server-backed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246120" cy="182880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Conflict Control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Farmer scope, server IDs, local IDs, and status fields prevent other farmers' records from appearing after registration or offline 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16052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32B26"/>
                </a:solidFill>
                <a:latin typeface="Aptos"/>
              </a:defRPr>
            </a:pPr>
            <a:r>
              <a:t>Local-first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16052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32B26"/>
                </a:solidFill>
                <a:latin typeface="Aptos"/>
              </a:defRPr>
            </a:pPr>
            <a:r>
              <a:t>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052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32B26"/>
                </a:solidFill>
                <a:latin typeface="Aptos"/>
              </a:defRPr>
            </a:pPr>
            <a:r>
              <a:t>Retry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16052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32B26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16052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32B26"/>
                </a:solidFill>
                <a:latin typeface="Aptos"/>
              </a:defRPr>
            </a:pPr>
            <a:r>
              <a:t>Refresh cache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4480560"/>
            <a:ext cx="5029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26280" y="4480560"/>
            <a:ext cx="5029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37960" y="4480560"/>
            <a:ext cx="5029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4480560"/>
            <a:ext cx="5029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Laravel Backoffice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Filament web interface is used by non-farmer roles instead of the Flutter app.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Disease reports include farmer context, detected crop/disease, confidence, status, date, and image evidence.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Experts confirm or reject reports and can support safer disease-management guidance.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Authenticated media access protects farmer images while allowing preview in Flutter and backoffice.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3474720" cy="169164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Professional Control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The offline model supports quick decisions, while human review improves trust and reduces unsafe pesticide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7947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Evidence Flow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Captured image -&gt; mobile local copy -&gt; Laravel media storage -&gt; backoffice preview -&gt; confirmed history update.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Soil, Weather, Prevention, and Yield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4800600" cy="141732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Soil Health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Offline guidance from pH, moisture, organic matter, nitrogen, phosphorus, potassium, and soil type. Includes natural and modern treatments.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Weather Monitoring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Farm-aware weather records and API-backed refresh where server permission and connectivity allow.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6616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Disease Prevention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Risk-oriented recommendations based on crop, farm/plot context, weather signals, and disease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4800600" cy="141732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Yield Prediction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Advance planning support using crop/farm/soil context and synchronized farm records.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Localization and Farmer Usability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6035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Supported languages: English, Amharic, Afaan Oromo, and Tigrinya.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Screens are simplified for farmers: fewer technical labels, clearer actions, and larger readable text.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Database/API results are mapped to farmer-facing names where possible, avoiding raw status codes.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Image previews, direct guidance, and offline states reduce confusion when connectivity is poor.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965960"/>
            <a:ext cx="3520440" cy="182880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Design Principle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The application should explain what happened, what the farmer can do now, and whether expert/server verification is still pending.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Core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554480" cy="594360"/>
          </a:xfrm>
          <a:prstGeom prst="roundRect">
            <a:avLst/>
          </a:prstGeom>
          <a:solidFill>
            <a:srgbClr val="E6F1E5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User/Farmer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508760"/>
            <a:ext cx="1554480" cy="594360"/>
          </a:xfrm>
          <a:prstGeom prst="roundRect">
            <a:avLst/>
          </a:prstGeom>
          <a:solidFill>
            <a:srgbClr val="E6F1E5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Farm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508760"/>
            <a:ext cx="1554480" cy="594360"/>
          </a:xfrm>
          <a:prstGeom prst="roundRect">
            <a:avLst/>
          </a:prstGeom>
          <a:solidFill>
            <a:srgbClr val="E6F1E5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508760"/>
            <a:ext cx="1554480" cy="594360"/>
          </a:xfrm>
          <a:prstGeom prst="roundRect">
            <a:avLst/>
          </a:prstGeom>
          <a:solidFill>
            <a:srgbClr val="E6F1E5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Planting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08760"/>
            <a:ext cx="1554480" cy="594360"/>
          </a:xfrm>
          <a:prstGeom prst="roundRect">
            <a:avLst/>
          </a:prstGeom>
          <a:solidFill>
            <a:srgbClr val="E6F1E5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Crop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063240"/>
            <a:ext cx="1554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Disease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063240"/>
            <a:ext cx="1554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Disease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063240"/>
            <a:ext cx="1554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Soil 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063240"/>
            <a:ext cx="1554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Weather 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617720"/>
            <a:ext cx="1554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4617720"/>
            <a:ext cx="1554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Sync Item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617720"/>
            <a:ext cx="1554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6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B26"/>
                </a:solidFill>
                <a:latin typeface="Aptos"/>
              </a:defRPr>
            </a:pPr>
            <a:r>
              <a:t>Treatment Guidance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1810512"/>
            <a:ext cx="5029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43400" y="1810512"/>
            <a:ext cx="5029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0" y="1810512"/>
            <a:ext cx="5029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58200" y="1810512"/>
            <a:ext cx="5029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11880" y="3364992"/>
            <a:ext cx="64008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06440" y="3364992"/>
            <a:ext cx="77724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23760" y="4919472"/>
            <a:ext cx="82296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69280" y="3749039"/>
            <a:ext cx="685800" cy="868681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50" b="0">
                <a:solidFill>
                  <a:srgbClr val="5C6760"/>
                </a:solidFill>
                <a:latin typeface="Aptos"/>
              </a:defRPr>
            </a:pPr>
            <a:r>
              <a:t>Simplified entity view for presentation; implementation uses Laravel models, migrations, media storage, and Flutter local cache structures.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3154680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Mobile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Flutter, Dart, camera/image handling, local cache, offline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55448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Machine Learning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EfficientNet-based TFLite crop-specific disease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19" y="1554480"/>
            <a:ext cx="3154680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Backend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Laravel API, Sanctum authentication, validation, media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1188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Backoffice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Filament admin panel for expert/supporter/admin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3611880"/>
            <a:ext cx="3154680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Database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MySQL for farms, plots, plantings, users, disease, soil, weather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361188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Deployment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Android APK, local/network API configuration, release build process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Production Readiness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6629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B26"/>
                </a:solidFill>
                <a:latin typeface="Aptos"/>
              </a:defRPr>
            </a:pPr>
            <a:r>
              <a:t>- Offline scan history must save and display immediately without waiting for server response.</a:t>
            </a:r>
          </a:p>
          <a:p>
            <a:pPr>
              <a:spcAft>
                <a:spcPts val="600"/>
              </a:spcAft>
              <a:defRPr sz="1500">
                <a:solidFill>
                  <a:srgbClr val="232B26"/>
                </a:solidFill>
                <a:latin typeface="Aptos"/>
              </a:defRPr>
            </a:pPr>
            <a:r>
              <a:t>- Server sync must not downgrade clear offline findings to vague pending states.</a:t>
            </a:r>
          </a:p>
          <a:p>
            <a:pPr>
              <a:spcAft>
                <a:spcPts val="600"/>
              </a:spcAft>
              <a:defRPr sz="1500">
                <a:solidFill>
                  <a:srgbClr val="232B26"/>
                </a:solidFill>
                <a:latin typeface="Aptos"/>
              </a:defRPr>
            </a:pPr>
            <a:r>
              <a:t>- All farmer data must remain scoped to the authenticated or offline-registered farmer.</a:t>
            </a:r>
          </a:p>
          <a:p>
            <a:pPr>
              <a:spcAft>
                <a:spcPts val="600"/>
              </a:spcAft>
              <a:defRPr sz="1500">
                <a:solidFill>
                  <a:srgbClr val="232B26"/>
                </a:solidFill>
                <a:latin typeface="Aptos"/>
              </a:defRPr>
            </a:pPr>
            <a:r>
              <a:t>- Images must render consistently in offline history, synced history, and Laravel review screens.</a:t>
            </a:r>
          </a:p>
          <a:p>
            <a:pPr>
              <a:spcAft>
                <a:spcPts val="600"/>
              </a:spcAft>
              <a:defRPr sz="1500">
                <a:solidFill>
                  <a:srgbClr val="232B26"/>
                </a:solidFill>
                <a:latin typeface="Aptos"/>
              </a:defRPr>
            </a:pPr>
            <a:r>
              <a:t>- Error messages should be farmer-readable and avoid raw codes unless debugging is explicitly enabled.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828800"/>
            <a:ext cx="3063240" cy="205740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Release Practice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Build APK after analyzer checks, offline smoke test, login/logout test, scan-to-history test, image evidence test, and API sync test.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Limitations and Risk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4800600" cy="137160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ML Reliability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Offline model output is advisory. Expert verification remains important for high-risk treatment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4800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Connectivity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The app must treat network reachability as variable and avoid blocking farmers from local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4800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Data Quality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Poor images, wrong crop selection, or biased class distribution can affect disease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20440"/>
            <a:ext cx="4800600" cy="137160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Operational Scale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Full public hosting and push-scale infrastructure require additional budget and deployment resources.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6629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Field validation with real farmer images across crop growth stages and local disease pressure.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Model retraining with balanced datasets, confidence calibration, and explainable top-score display.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SMS/USSD or lightweight notification integration for farmers without reliable mobile data.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More complete agronomic datasets for region/zone/woreda/kebele, crops, fertilizers, and approved treatments.</a:t>
            </a:r>
          </a:p>
          <a:p>
            <a:pPr>
              <a:spcAft>
                <a:spcPts val="600"/>
              </a:spcAft>
              <a:defRPr sz="1550">
                <a:solidFill>
                  <a:srgbClr val="232B26"/>
                </a:solidFill>
                <a:latin typeface="Aptos"/>
              </a:defRPr>
            </a:pPr>
            <a:r>
              <a:t>- Cloud deployment with monitoring, backups, media storage policy, and API performance hardening.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057400"/>
            <a:ext cx="3063240" cy="182880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Long-Term Goal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A practical decision-support platform that connects farmers, field supporters, experts, and institutional technology-transfer activities.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Architecture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9692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5C6760"/>
                </a:solidFill>
                <a:latin typeface="Aptos"/>
              </a:defRPr>
            </a:pPr>
            <a:r>
              <a:t>A simple reading path for non-technical validators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67335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84831"/>
            <a:ext cx="2057400" cy="150876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Farmer uses mobile app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The farmer records farm work and scans crop leaves on the phone.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834640"/>
            <a:ext cx="274319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34639" y="160020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52927" y="167335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39" y="2084831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Phone keeps local copy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Important data and images remain available when internet is not working.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92040" y="2834640"/>
            <a:ext cx="274319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66359" y="160020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4647" y="167335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59" y="2084831"/>
            <a:ext cx="2057400" cy="150876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API receives sync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When network returns, the phone sends queued records to Laravel.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59" y="2834640"/>
            <a:ext cx="2743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98079" y="160020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16367" y="167335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084831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Database and storage save evidence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MySQL stores records; file storage keeps disease images.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2834640"/>
            <a:ext cx="27432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829800" y="160020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48088" y="167335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084831"/>
            <a:ext cx="2057400" cy="150876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Expert reviews in backoffice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Supporter or expert checks evidence and confirms the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2402B"/>
                </a:solidFill>
                <a:latin typeface="Aptos"/>
              </a:defRPr>
            </a:pPr>
            <a:r>
              <a:t>Meaning: the farmer is never blocked by temporary internet failure, but expert review is still possible after synchronization.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Disease Scan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9692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5C6760"/>
                </a:solidFill>
                <a:latin typeface="Aptos"/>
              </a:defRPr>
            </a:pPr>
            <a:r>
              <a:t>How one leaf photo becomes farmer guidance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46304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3619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1417320"/>
            <a:ext cx="9601200" cy="612648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Choose crop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The model is selected using crop context such as potato, tomato, pepper, or maize.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35915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240280"/>
            <a:ext cx="960120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Take photo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The app stores the image so the farmer can see it later in history.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10896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18211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3063240"/>
            <a:ext cx="9601200" cy="612648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Offline diagnosis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The phone gives a quick provisional result, including healthy cases where applicable.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93192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00507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886200"/>
            <a:ext cx="960120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History saved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The result is visible immediately, even before sync.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754880"/>
            <a:ext cx="384048" cy="384048"/>
          </a:xfrm>
          <a:prstGeom prst="ellipse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828032"/>
            <a:ext cx="347472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709160"/>
            <a:ext cx="9601200" cy="612648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Expert verification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Server review improves confidence and protects against unsafe treatment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50" b="1">
                <a:solidFill>
                  <a:srgbClr val="BC532D"/>
                </a:solidFill>
                <a:latin typeface="Aptos"/>
              </a:defRPr>
            </a:pPr>
            <a:r>
              <a:t>Key message for validators: offline result should not disappear or change into a vague pending status just because the server inference service is unavailable.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Offline Sync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9692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5C6760"/>
                </a:solidFill>
                <a:latin typeface="Aptos"/>
              </a:defRPr>
            </a:pPr>
            <a:r>
              <a:t>What happens when the server is unreachable and later returns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246120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1. Server unavailable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The app must show local disease history, farm records, and soil guidance without long loading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2. Farmer continues work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New scans and records are saved locally with clear status such as saved on this phone or waiting to 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246120" cy="132588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3. Server reachable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The sync queue sends local records and images to Laravel using the configured API link.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23360" y="2267712"/>
            <a:ext cx="41148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80960" y="2267712"/>
            <a:ext cx="41148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28800" y="3886200"/>
            <a:ext cx="3886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4. Review completed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Confirmed diagnosis and guidance are pulled back, while the original offline finding and image evidence remain understandable.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886200"/>
            <a:ext cx="3886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20" b="1">
                <a:solidFill>
                  <a:srgbClr val="12402B"/>
                </a:solidFill>
                <a:latin typeface="Aptos"/>
              </a:defRPr>
            </a:pPr>
            <a:r>
              <a:t>5. Farmer sees final result</a:t>
            </a:r>
          </a:p>
          <a:p>
            <a:pPr>
              <a:spcBef>
                <a:spcPts val="400"/>
              </a:spcBef>
              <a:defRPr sz="1120">
                <a:solidFill>
                  <a:srgbClr val="232B26"/>
                </a:solidFill>
                <a:latin typeface="Aptos"/>
              </a:defRPr>
            </a:pPr>
            <a:r>
              <a:t>History should show the exact disease, likely issue, or healthy result with one clear image preview.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4498848"/>
            <a:ext cx="777240" cy="0"/>
          </a:xfrm>
          <a:prstGeom prst="line">
            <a:avLst/>
          </a:prstGeom>
          <a:ln w="25400">
            <a:solidFill>
              <a:srgbClr val="1F6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F44"/>
          </a:solidFill>
          <a:ln>
            <a:solidFill>
              <a:srgbClr val="1F6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9601200" y="-777240"/>
            <a:ext cx="3291840" cy="2194560"/>
          </a:xfrm>
          <a:prstGeom prst="arc">
            <a:avLst/>
          </a:prstGeom>
          <a:solidFill>
            <a:srgbClr val="E6F1E5"/>
          </a:solidFill>
          <a:ln>
            <a:solidFill>
              <a:srgbClr val="E6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2402B"/>
                </a:solidFill>
                <a:latin typeface="Aptos"/>
              </a:defRPr>
            </a:pPr>
            <a:r>
              <a:t>Conclusion and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1828800" cy="36576"/>
          </a:xfrm>
          <a:prstGeom prst="rect">
            <a:avLst/>
          </a:prstGeom>
          <a:solidFill>
            <a:srgbClr val="E6B042"/>
          </a:solidFill>
          <a:ln>
            <a:solidFill>
              <a:srgbClr val="E6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37376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5C6760"/>
                </a:solidFill>
                <a:latin typeface="Aptos"/>
              </a:defRPr>
            </a:pPr>
            <a: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5C676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1498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12402B"/>
                </a:solidFill>
                <a:latin typeface="Aptos"/>
              </a:defRPr>
            </a:pPr>
            <a:r>
              <a:t>Smart Farming Ethiopia provides a farmer-centered, offline-first path for crop health support, farm records, soil guidance, prevention, and expert-reviewed disease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743200"/>
            <a:ext cx="4572000" cy="1508760"/>
          </a:xfrm>
          <a:prstGeom prst="roundRect">
            <a:avLst/>
          </a:prstGeom>
          <a:solidFill>
            <a:srgbClr val="E6F1E5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73152" rtlCol="0" anchor="ctr"/>
          <a:lstStyle/>
          <a:p>
            <a:pPr algn="ctr">
              <a:defRPr sz="1450" b="1">
                <a:solidFill>
                  <a:srgbClr val="12402B"/>
                </a:solidFill>
                <a:latin typeface="Aptos"/>
              </a:defRPr>
            </a:pPr>
            <a:r>
              <a:t>Project Value</a:t>
            </a:r>
          </a:p>
          <a:p>
            <a:pPr>
              <a:spcBef>
                <a:spcPts val="400"/>
              </a:spcBef>
              <a:defRPr sz="1150">
                <a:solidFill>
                  <a:srgbClr val="232B26"/>
                </a:solidFill>
                <a:latin typeface="Aptos"/>
              </a:defRPr>
            </a:pPr>
            <a:r>
              <a:t>The system is designed for real rural constraints: unstable internet, low-literacy usability needs, local languages, and the need for accountable disease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4297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defRPr sz="1700" b="1">
                <a:solidFill>
                  <a:srgbClr val="12402B"/>
                </a:solidFill>
                <a:latin typeface="Aptos"/>
              </a:defRPr>
            </a:pPr>
            <a:r>
              <a:t>Admasu Feleke Mulatu</a:t>
            </a:r>
          </a:p>
          <a:p>
            <a:pPr>
              <a:defRPr sz="1300">
                <a:solidFill>
                  <a:srgbClr val="3674B5"/>
                </a:solidFill>
                <a:latin typeface="Aptos"/>
              </a:defRPr>
            </a:pPr>
            <a:r>
              <a:t>Email: admasu.feleke21@gmail.com</a:t>
            </a:r>
          </a:p>
          <a:p>
            <a:pPr>
              <a:defRPr sz="1300">
                <a:solidFill>
                  <a:srgbClr val="3674B5"/>
                </a:solidFill>
                <a:latin typeface="Aptos"/>
              </a:defRPr>
            </a:pPr>
            <a:r>
              <a:t>Phone: 0900824328</a:t>
            </a:r>
          </a:p>
          <a:p>
            <a:pPr>
              <a:defRPr sz="1250">
                <a:solidFill>
                  <a:srgbClr val="5C6760"/>
                </a:solidFill>
                <a:latin typeface="Aptos"/>
              </a:defRPr>
            </a:pPr>
            <a:r>
              <a:t>Dalocha Polytechnic College</a:t>
            </a:r>
          </a:p>
        </p:txBody>
      </p:sp>
      <p:pic>
        <p:nvPicPr>
          <p:cNvPr id="11" name="Picture 10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4681728"/>
            <a:ext cx="1207008" cy="12070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49640" y="592531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760"/>
                </a:solidFill>
                <a:latin typeface="Aptos"/>
              </a:defRPr>
            </a:pPr>
            <a:r>
              <a:t>Approved institutional context: Technology Transfer Core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2105</Words>
  <Application>Microsoft Office PowerPoint</Application>
  <PresentationFormat>Widescreen</PresentationFormat>
  <Paragraphs>287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Admas</cp:lastModifiedBy>
  <cp:revision>6</cp:revision>
  <dcterms:created xsi:type="dcterms:W3CDTF">2013-01-27T09:14:16Z</dcterms:created>
  <dcterms:modified xsi:type="dcterms:W3CDTF">2026-05-11T13:14:24Z</dcterms:modified>
  <cp:category/>
</cp:coreProperties>
</file>